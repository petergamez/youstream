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TH Sarabun New" panose="020B0500040200020003" pitchFamily="34" charset="-34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476875"/>
            <a:ext cx="10668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54768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" y="723900"/>
            <a:ext cx="1428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29700" y="709612"/>
            <a:ext cx="180318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94A3B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WEB APPLICATION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52761"/>
            <a:ext cx="300883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F43F5E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REAL-TIME CO-WATCHING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52811"/>
            <a:ext cx="10601325" cy="1464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sz="5400" b="1" i="0" u="none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ซิงค์ความบันเทิงระดับมิลลิวินาที</a:t>
            </a:r>
            <a:r>
              <a:rPr sz="2400">
                <a:latin typeface="TH Sarabun New" panose="020B0500040200020003" pitchFamily="34" charset="-34"/>
                <a:cs typeface="TH Sarabun New" panose="020B0500040200020003" pitchFamily="34" charset="-34"/>
              </a:rPr>
              <a:t>
</a:t>
            </a:r>
            <a:r>
              <a:rPr sz="5400" b="1" i="0" u="none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รับชมวิดีโอร่วมกันอย่างไร้รอยต่อ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60452"/>
            <a:ext cx="8477250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 i="0" u="none">
                <a:solidFill>
                  <a:srgbClr val="CBD5E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 WebSocket ประสิทธิภาพสูง รองรับสื่อไฮบริดทั้ง YouTube และ Local Video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6000750"/>
            <a:ext cx="361958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94A3B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ภาควิชาวิทยาการคอมพิวเตอร์ มหาวิทยาลัยเกษตรศาสตร์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50" y="666750"/>
            <a:ext cx="12198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1F5F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YOUSTREAM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89607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ผู้พัฒนาโครงงาน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981700"/>
            <a:ext cx="285334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E2E8F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ชนกันต์ เขียวภักดี  |  ทะยานชล สว่างศรี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8959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252662"/>
            <a:ext cx="3403550" cy="2722066"/>
          </a:xfrm>
          <a:prstGeom prst="roundRect">
            <a:avLst>
              <a:gd name="adj" fmla="val 62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4150" y="2252662"/>
            <a:ext cx="3403550" cy="2722066"/>
          </a:xfrm>
          <a:prstGeom prst="roundRect">
            <a:avLst>
              <a:gd name="adj" fmla="val 62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26300" y="2252662"/>
            <a:ext cx="3403550" cy="2722066"/>
          </a:xfrm>
          <a:prstGeom prst="roundRect">
            <a:avLst>
              <a:gd name="adj" fmla="val 62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2252662"/>
            <a:ext cx="3403550" cy="476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4150" y="2252662"/>
            <a:ext cx="3403550" cy="476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26300" y="2252662"/>
            <a:ext cx="3403550" cy="476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64318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00" y="2643187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050" y="2643187"/>
            <a:ext cx="28575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6067425"/>
            <a:ext cx="107632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YouStream ถูกออกแบบมาเพื่อขจัดปัญหาคอขวดเหล่านี้ด้วยการซิงค์เฉพาะ State ข้อมูล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33400"/>
            <a:ext cx="143270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E11D4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28675"/>
            <a:ext cx="8048678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ปัญหาและความท้าทายของการ</a:t>
            </a:r>
            <a:r>
              <a:rPr sz="4000" b="1" i="0" u="none" dirty="0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Co-watching </a:t>
            </a:r>
            <a:r>
              <a:rPr sz="4000" b="1" i="0" u="none" dirty="0" err="1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ในปัจจุบัน</a:t>
            </a:r>
            <a:endParaRPr sz="4000" b="1" i="0" u="none" dirty="0">
              <a:solidFill>
                <a:srgbClr val="0F172A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7750" y="3214687"/>
            <a:ext cx="228107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Out-of-Sync คลาดเคลื่อน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3671887"/>
            <a:ext cx="2927300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i="0" u="none" dirty="0" err="1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ต้องคอยนับถอยหลัง</a:t>
            </a:r>
            <a:r>
              <a:rPr b="0" i="0" u="none" dirty="0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3-2-1 </a:t>
            </a:r>
            <a:r>
              <a:rPr b="0" i="0" u="none" dirty="0" err="1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เวลาหลุดซิงค์</a:t>
            </a:r>
            <a:r>
              <a:rPr b="0" i="0" u="none" dirty="0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ทำลายอรรถรสในการรับชมพร้อมกัน</a:t>
            </a:r>
            <a:endParaRPr b="0" i="0" u="none" dirty="0">
              <a:solidFill>
                <a:srgbClr val="475569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9900" y="3214687"/>
            <a:ext cx="227145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Screen Share กินสเปกสูง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00" y="3671887"/>
            <a:ext cx="2927300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เปลือง Bandwidth มหาศาล เครื่องฝั่ง Host หนัก เฟรมเรตตก ภาพแตก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3214687"/>
            <a:ext cx="189474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ข้อจำกัดของแหล่งไฟล์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050" y="3671887"/>
            <a:ext cx="2927300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ระบบส่วนใหญ่ไม่รองรับไฟล์วิดีโอส่วนบุคคล (.mp4 / .webm) โดยตรง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6286500"/>
            <a:ext cx="1066800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924550" y="2309812"/>
            <a:ext cx="5505450" cy="2998291"/>
          </a:xfrm>
          <a:prstGeom prst="roundRect">
            <a:avLst>
              <a:gd name="adj" fmla="val 762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27808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51758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75708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" y="2351633"/>
            <a:ext cx="21907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7" y="3475583"/>
            <a:ext cx="2762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4599533"/>
            <a:ext cx="2476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42026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284C7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28675"/>
            <a:ext cx="5559214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โซลูชันและคุณค่าหลักของ YouStream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2728912"/>
            <a:ext cx="302647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สถาปัตยกรรมถ่ายทอดสถานะแทนการส่งภาพสด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7450" y="3090862"/>
            <a:ext cx="2393284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Zero-Relay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50" y="3929062"/>
            <a:ext cx="4914900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เซิร์ฟเวอร์ไม่แบกรับวิดีโอสตรีมมิ่งสด จึงประหยัดแบนด์วิดท์เซิร์ฟเวอร์มากกว่า 95% เมื่อเทียบกับ Discord Screen Sharing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2227808"/>
            <a:ext cx="192200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Sub-200ms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2570708"/>
            <a:ext cx="42291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กลไกการซิงค์สถานะอัตโนมัติความเร็วสูงระหว่าง Host และ Viewers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3351758"/>
            <a:ext cx="205184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Hybrid Media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3694658"/>
            <a:ext cx="42291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รองรับทั้ง YouTube ผ่าน URL และการอัปโหลดไฟล์วิดีโอเครื่องตนเอง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4475708"/>
            <a:ext cx="214802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Host-Control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4818608"/>
            <a:ext cx="422910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ควบคุมสิทธิ์ Play / Pause / Seek เด็ดขาด ป้องกันการกดชนกันของผู้ใช้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53100"/>
            <a:ext cx="10668000" cy="571500"/>
          </a:xfrm>
          <a:prstGeom prst="roundRect">
            <a:avLst>
              <a:gd name="adj" fmla="val 23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237333"/>
            <a:ext cx="3403550" cy="2609850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4150" y="2389733"/>
            <a:ext cx="3403550" cy="230505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26300" y="2237333"/>
            <a:ext cx="3403550" cy="2609850"/>
          </a:xfrm>
          <a:prstGeom prst="roundRect">
            <a:avLst>
              <a:gd name="adj" fmla="val 65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53888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7C3AED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28675"/>
            <a:ext cx="7040389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สถาปัตยกรรมระบบและ Dual-Layer Data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542133"/>
            <a:ext cx="2965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2563E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CLIENT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2694533"/>
            <a:ext cx="2965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596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APPLICATION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000" y="2542133"/>
            <a:ext cx="2965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DC262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DUAL-LAYER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5924550"/>
            <a:ext cx="160781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1E293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Data Flow Separation: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6350" y="5924550"/>
            <a:ext cx="525143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334155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State เปลี่ยนแปลงบ่อยจัดเก็บ In-Memory 100% ปลอดภาระ I/O ฐานข้อมูลหลัก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865983"/>
            <a:ext cx="162704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Next.js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323183"/>
            <a:ext cx="29654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App Router, React 19 พร้อม Socket.io-client และ YouTube IFrame API จัดการ Rendering ฝั่งผู้ใช้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850" y="3018383"/>
            <a:ext cx="130324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Hono on Bun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0850" y="3475583"/>
            <a:ext cx="2965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Hono API ประสิทธิภาพสูงบน Bun Runtime เชื่อมต่อ Socket.io Event Bus ความเร็วสูง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000" y="2865983"/>
            <a:ext cx="157254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Redis + MariaDB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000" y="3323183"/>
            <a:ext cx="2965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Redis เก็บ Real-time State &amp; Live Chat</a:t>
            </a:r>
            <a:r>
              <a:rPr sz="2400">
                <a:latin typeface="TH Sarabun New" panose="020B0500040200020003" pitchFamily="34" charset="-34"/>
                <a:cs typeface="TH Sarabun New" panose="020B0500040200020003" pitchFamily="34" charset="-34"/>
              </a:rPr>
              <a:t>
</a:t>
            </a: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MariaDB ดูแลข้อมูลถาวร Users และ 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429250"/>
            <a:ext cx="10668000" cy="895350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442120"/>
            <a:ext cx="2259806" cy="1876425"/>
          </a:xfrm>
          <a:prstGeom prst="roundRect">
            <a:avLst>
              <a:gd name="adj" fmla="val 812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64731" y="2442120"/>
            <a:ext cx="2259806" cy="1876425"/>
          </a:xfrm>
          <a:prstGeom prst="roundRect">
            <a:avLst>
              <a:gd name="adj" fmla="val 812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67462" y="2442120"/>
            <a:ext cx="2259806" cy="1876425"/>
          </a:xfrm>
          <a:prstGeom prst="roundRect">
            <a:avLst>
              <a:gd name="adj" fmla="val 812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70193" y="2442120"/>
            <a:ext cx="2259806" cy="1876425"/>
          </a:xfrm>
          <a:prstGeom prst="roundRect">
            <a:avLst>
              <a:gd name="adj" fmla="val 812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256" y="3275558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275558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718" y="3275558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52266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DC262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FEATURE HIGHLIGHT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28675"/>
            <a:ext cx="5640006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YouTube Synchronization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024" y="2708820"/>
            <a:ext cx="244375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>
                <a:solidFill>
                  <a:srgbClr val="DC262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2755" y="2708820"/>
            <a:ext cx="244375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>
                <a:solidFill>
                  <a:srgbClr val="DC262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5486" y="2708820"/>
            <a:ext cx="244375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>
                <a:solidFill>
                  <a:srgbClr val="DC262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8217" y="2708820"/>
            <a:ext cx="244375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>
                <a:solidFill>
                  <a:srgbClr val="DC262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777" y="3204120"/>
            <a:ext cx="77425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Host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649" y="3537495"/>
            <a:ext cx="2348507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Host แปะ URL สกัด Video ID บนไคลเอนต์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021" y="3204120"/>
            <a:ext cx="8672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Socket Emit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380" y="3537495"/>
            <a:ext cx="2348507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ยิง Event video:change พร้อม Time 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442" y="3204120"/>
            <a:ext cx="98584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Redis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111" y="3537495"/>
            <a:ext cx="2348507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บันทึกสถานะล่าสุดลง In-Memory Sub-ms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421" y="3204120"/>
            <a:ext cx="72135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Broadcast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842" y="3537495"/>
            <a:ext cx="2348507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กระจายสถานะให้ผู้ชมทุกคนในห้องพร้อมกัน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5657850"/>
            <a:ext cx="188994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Zero-Bandwidth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5886450"/>
            <a:ext cx="335668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เซิร์ฟเวอร์ส่งต่อแค่ Video ID ไม่ต้องดาวน์โหลดหรือแปลงวิดีโอ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500" y="5657850"/>
            <a:ext cx="13865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IFrame API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0" y="5886450"/>
            <a:ext cx="33759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ควบคุม Play, Pause, Seek และ Playback Rate แบบแม่นยำ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88509" y="2286892"/>
            <a:ext cx="4541490" cy="2863155"/>
          </a:xfrm>
          <a:prstGeom prst="roundRect">
            <a:avLst>
              <a:gd name="adj" fmla="val 665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023318"/>
            <a:ext cx="5783609" cy="1744712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3958530"/>
            <a:ext cx="5783609" cy="1455241"/>
          </a:xfrm>
          <a:prstGeom prst="roundRect">
            <a:avLst>
              <a:gd name="adj" fmla="val 104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31409" y="4010917"/>
            <a:ext cx="3855690" cy="7962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31409" y="4010917"/>
            <a:ext cx="3855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6105525"/>
            <a:ext cx="665086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 Range Clamping ช่วยป้องกันการร้องขอไบต์เกินขอบเขตจริงของไฟล์ ปลอดภัยและมีเสถียรภาพสูง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7139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2563E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FEATURE HIGHLIGHT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28675"/>
            <a:ext cx="8609729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400" b="1" i="0" u="none" dirty="0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Local File Upload &amp; HTTP 206 Partial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1409" y="2629792"/>
            <a:ext cx="115775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38BDF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1409" y="2953642"/>
            <a:ext cx="1612621" cy="611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5400" b="1" i="0" u="none">
                <a:solidFill>
                  <a:srgbClr val="F8FAFC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500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1409" y="3563242"/>
            <a:ext cx="18883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94A3B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ขนาดไฟล์สูงสุดที่รองรับต่อคลิป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2290018"/>
            <a:ext cx="325890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 Range Requests (RFC 9110)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2632918"/>
            <a:ext cx="5307359" cy="903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20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ตอบสนองด้วยสถานะ 206 Partial Content ส่งเฉพาะ Byte Range ที่เบราว์เซอร์ร้องขอ ทำให้การ Seek และข้ามวิดีโอทำได้ทันทีโดยไม่ต้องโหลดไฟล์ทั้งหมด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4225230"/>
            <a:ext cx="261449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Node/Bun Stream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4568130"/>
            <a:ext cx="5307359" cy="59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20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สตรีมไฟล์ผ่าน Stream Pipeline ไม่โหลดทั้งไฟล์เข้า RAM ป้องกันปัญหา Memory Spike และ Server Crash เมื่อมีผู้รับชมหลายคนพร้อมกัน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1409" y="4191892"/>
            <a:ext cx="3950940" cy="630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sz="2000" b="0" i="0" u="none">
                <a:solidFill>
                  <a:srgbClr val="CBD5E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รองรับคอนเทนเนอร์ .mp4 และ .webm</a:t>
            </a:r>
            <a:r>
              <a:rPr sz="2800">
                <a:latin typeface="TH Sarabun New" panose="020B0500040200020003" pitchFamily="34" charset="-34"/>
                <a:cs typeface="TH Sarabun New" panose="020B0500040200020003" pitchFamily="34" charset="-34"/>
              </a:rPr>
              <a:t>
</a:t>
            </a:r>
            <a:r>
              <a:rPr sz="2000" b="0" i="0" u="none">
                <a:solidFill>
                  <a:srgbClr val="CBD5E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• ตรวจสอบ MIME type ป้องกันโค้ดอันตราย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53100"/>
            <a:ext cx="10668000" cy="571500"/>
          </a:xfrm>
          <a:prstGeom prst="roundRect">
            <a:avLst>
              <a:gd name="adj" fmla="val 23333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212776"/>
            <a:ext cx="3403550" cy="2659112"/>
          </a:xfrm>
          <a:prstGeom prst="roundRect">
            <a:avLst>
              <a:gd name="adj" fmla="val 64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4150" y="2212776"/>
            <a:ext cx="3403550" cy="2659112"/>
          </a:xfrm>
          <a:prstGeom prst="roundRect">
            <a:avLst>
              <a:gd name="adj" fmla="val 64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26300" y="2212776"/>
            <a:ext cx="3403550" cy="2659112"/>
          </a:xfrm>
          <a:prstGeom prst="roundRect">
            <a:avLst>
              <a:gd name="adj" fmla="val 64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934075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565201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375" y="2565201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525" y="2565201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862" y="2698551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150" y="2698551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875" y="2698551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52266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596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FEATURE HIGHLIGHT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28675"/>
            <a:ext cx="5790047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ระบบแชทสดในห้องและการป้องกันสแปม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924550"/>
            <a:ext cx="438261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65F4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ผลลัพธ์: แชทลื่นไหล ไม่หน่วงวิดีโอ ปลอดภัยจากการ Flood ข้อความ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251001"/>
            <a:ext cx="17536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Redis Capped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3651051"/>
            <a:ext cx="2946350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จำกัดประวัติแชทไว้ที่ 100 ข้อความล่าสุดใน In-Memory ป้องกัน Memory Leak และประหยัดพื้นที่จัดเก็บ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375" y="3251001"/>
            <a:ext cx="193803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Late-Joiner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0375" y="3651051"/>
            <a:ext cx="2946350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ผู้ชมที่เข้าห้องมาทีหลัง จะได้รับ 100 ข้อความก่อนหน้า และเวลาของวิดีโอปัจจุบันทันทีที่เชื่อมต่อ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525" y="3251001"/>
            <a:ext cx="118462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Rate Limiter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525" y="3651051"/>
            <a:ext cx="2946350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ใช้อัลกอริทึม Token Bucket ผ่าน Redis ควบคุมอัตราการส่ง 1 ข้อความ / วินาที ต่อผู้ใช้งาน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43575"/>
            <a:ext cx="10668000" cy="581025"/>
          </a:xfrm>
          <a:prstGeom prst="roundRect">
            <a:avLst>
              <a:gd name="adj" fmla="val 229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322314"/>
            <a:ext cx="3378249" cy="2430512"/>
          </a:xfrm>
          <a:prstGeom prst="roundRect">
            <a:avLst>
              <a:gd name="adj" fmla="val 70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06949" y="2322314"/>
            <a:ext cx="3378249" cy="2430512"/>
          </a:xfrm>
          <a:prstGeom prst="roundRect">
            <a:avLst>
              <a:gd name="adj" fmla="val 70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51899" y="2322314"/>
            <a:ext cx="3378249" cy="2430512"/>
          </a:xfrm>
          <a:prstGeom prst="roundRect">
            <a:avLst>
              <a:gd name="adj" fmla="val 70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646164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99" y="2646164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649" y="2646164"/>
            <a:ext cx="428625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52266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D9770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FEATURE HIGHLIGHT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28675"/>
            <a:ext cx="8430834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Room Directory &amp; Multi-Tab Presence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5924550"/>
            <a:ext cx="216886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Heartbeat &amp; Disconnect Handler: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9025" y="5924550"/>
            <a:ext cx="287739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เคลียร์สถานะห้องอัตโนมัติเมื่อ Host หลุดการเชื่อมต่อ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141464"/>
            <a:ext cx="183704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Lobby &amp;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560564"/>
            <a:ext cx="2901999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หน้ารวมห้องแบบเรียลไทม์ แสดงจำนวนผู้ชมสด ประเภทสื่อที่กำลังเล่น และสถานะห้อง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699" y="3141464"/>
            <a:ext cx="183223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8-Digit Room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560564"/>
            <a:ext cx="2901999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เข้าห้องง่ายผ่านรหัสตัวเลข 8 หลัก หรือ Direct URL พร้อมรองรับระบบ Passcode ป้องกันความเป็นส่วนตัว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7649" y="3141464"/>
            <a:ext cx="175567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Presence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7649" y="3560564"/>
            <a:ext cx="2901999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นับจำนวนผู้ชมแม่นยำด้วย Socket Session แม้ผู้ใช้เปิดหลายแท็บพร้อมกันจะไม่นับซ้ำ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6286500"/>
            <a:ext cx="1066800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848350" y="2188964"/>
            <a:ext cx="5581650" cy="3240137"/>
          </a:xfrm>
          <a:prstGeom prst="roundRect">
            <a:avLst>
              <a:gd name="adj" fmla="val 705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751558"/>
            <a:ext cx="4743450" cy="1257300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2000" y="3180308"/>
            <a:ext cx="4743450" cy="1257300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2000" y="4609058"/>
            <a:ext cx="4743450" cy="1257300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7777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4F46E5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SECURITY &amp;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28675"/>
            <a:ext cx="6190797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ความปลอดภัยและการปรับแต่งประสิทธิภาพ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2608064"/>
            <a:ext cx="122469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BENCHMARK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2960489"/>
            <a:ext cx="2080698" cy="7213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sz="6000" b="1" i="0" u="none">
                <a:solidFill>
                  <a:srgbClr val="38BDF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&lt; 200ms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7450" y="3722489"/>
            <a:ext cx="198009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Sync Latency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4141589"/>
            <a:ext cx="4838700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94A3B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 Real-time State ทั้งหมดไปไว้บน Redis ทำให้ลด Response Time และขจัดปัญหา Database I/O Bottleneck อย่างสมบูรณ์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1961108"/>
            <a:ext cx="209833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Authentication &amp; 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284958"/>
            <a:ext cx="4381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JSON Web Token (JWT) รักษาความปลอดภัยเซสชัน และเข้ารหัสผ่านด้วย bcrypt (Cost Factor 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389858"/>
            <a:ext cx="283763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Injection &amp; Path Traversal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713708"/>
            <a:ext cx="4381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Prepared Statements ป้องกัน SQL Injection 100% พร้อม Sanitization ชื่อไฟล์ป้องกัน Path Traversal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818608"/>
            <a:ext cx="179055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Strict MIME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5142458"/>
            <a:ext cx="438150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ตรวจสอบประเภทไฟล์จริงที่ฝั่งเซิร์ฟเวอร์ก่อนบันทึก ป้องกันการอัปโหลดสคริปต์อันตราย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81675"/>
            <a:ext cx="10668000" cy="542925"/>
          </a:xfrm>
          <a:prstGeom prst="roundRect">
            <a:avLst>
              <a:gd name="adj" fmla="val 24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184945"/>
            <a:ext cx="3403550" cy="2743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4150" y="2184945"/>
            <a:ext cx="3403550" cy="2743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26300" y="2184945"/>
            <a:ext cx="3403550" cy="2743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8974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2489745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000" y="2489745"/>
            <a:ext cx="428625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36716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2563E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28675"/>
            <a:ext cx="5572038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สรุปเทคโนโลยีที่เลือกใช้ใน YouStream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2235" y="5943600"/>
            <a:ext cx="50275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Modern Fullstack TypeScript: Type-Safe ตั้งแต่ Frontend จนถึง Database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985045"/>
            <a:ext cx="90730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850" y="2985045"/>
            <a:ext cx="83035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000" y="2985045"/>
            <a:ext cx="117820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Data &amp; Infra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423195"/>
            <a:ext cx="179055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Next.js 15+ (App Router)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747045"/>
            <a:ext cx="162813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React 19 &amp; 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070895"/>
            <a:ext cx="9805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394745"/>
            <a:ext cx="11637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Socket.io-client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850" y="3423195"/>
            <a:ext cx="173605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Bun JavaScript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0850" y="3747045"/>
            <a:ext cx="165449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Hono Web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0850" y="4070895"/>
            <a:ext cx="171200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Socket.io Server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0850" y="4394745"/>
            <a:ext cx="21651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TypeScript Clean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000" y="3423195"/>
            <a:ext cx="172483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MariaDB (Relational DB)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000" y="3747045"/>
            <a:ext cx="164468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Redis / ioredis (Cache)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000" y="4073583"/>
            <a:ext cx="134652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• </a:t>
            </a:r>
            <a:r>
              <a:rPr b="0" i="0" u="none" dirty="0" err="1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OVHcloud</a:t>
            </a:r>
            <a:r>
              <a:rPr b="0" i="0" u="none" dirty="0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Deploy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762625"/>
            <a:ext cx="10668000" cy="561975"/>
          </a:xfrm>
          <a:prstGeom prst="roundRect">
            <a:avLst>
              <a:gd name="adj" fmla="val 237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459384"/>
            <a:ext cx="3403550" cy="2175420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4150" y="2459384"/>
            <a:ext cx="3403550" cy="2175420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26300" y="2459384"/>
            <a:ext cx="3403550" cy="2175420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58254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284C7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SYSTEM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28675"/>
            <a:ext cx="8064708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หน้าจอการทำงานและขั้นตอนการใช้งาน</a:t>
            </a:r>
            <a:r>
              <a:rPr sz="4000" b="1" i="0" u="none" dirty="0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(Walkthrough)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764184"/>
            <a:ext cx="2965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284C7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2764184"/>
            <a:ext cx="2965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596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000" y="2764184"/>
            <a:ext cx="2965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DC2626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5934075"/>
            <a:ext cx="146835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E293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Interactive Live Demo: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7875" y="5934075"/>
            <a:ext cx="433605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34155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พร้อมสาธิตการซิงค์วิดีโอ YouTube และไฟล์ Local สดต่อหน้าคณะกรรมการ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097559"/>
            <a:ext cx="14010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Auth &amp;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497609"/>
            <a:ext cx="294635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ระบบลงทะเบียนและเข้าสู่ระบบ พร้อมดึงรูปโปรไฟล์ Gravatar อัตโนมัติจากอีเมลผู้ใช้งาน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3097559"/>
            <a:ext cx="218489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Lobby &amp; Room 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375" y="3497609"/>
            <a:ext cx="294635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เลือกห้องจาก Lobby หรือสร้างห้องใหม่ กำหนดสิทธิ์ Host และตั้งค่ารหัสผ่านส่วนตัว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525" y="3097559"/>
            <a:ext cx="201337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Room Studio &amp;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5" y="3497609"/>
            <a:ext cx="2946350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>
                <a:solidFill>
                  <a:srgbClr val="475569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หน้าจอเล่นวิดีโอซิงค์สด แผงควบคุม Host ควบคุมเวลา และกล่องแชทสดสนทนาแบบเรียลไทม์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838825"/>
            <a:ext cx="106680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58388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357562" y="3279278"/>
            <a:ext cx="2686050" cy="790575"/>
          </a:xfrm>
          <a:prstGeom prst="roundRect">
            <a:avLst>
              <a:gd name="adj" fmla="val 168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34112" y="3279278"/>
            <a:ext cx="2600325" cy="790575"/>
          </a:xfrm>
          <a:prstGeom prst="roundRect">
            <a:avLst>
              <a:gd name="adj" fmla="val 168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7232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YOUSTREAM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9400" y="609600"/>
            <a:ext cx="82073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Q&amp;A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461" y="1473696"/>
            <a:ext cx="5059078" cy="665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800" b="1" i="0" u="none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บทสรุปและแผนพัฒนาต่อยอด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5843" y="2304157"/>
            <a:ext cx="10120312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2000" b="0" i="0" u="none">
                <a:solidFill>
                  <a:srgbClr val="94A3B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YouStream แก้ไขปัญหาความหน่วงและภาระแบนด์วิดท์อย่างมีประสิทธิภาพ พร้อมมอบประสบการณ์การชมวิดีโอร่วมกันที่ดีกว่า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9704" y="4412753"/>
            <a:ext cx="501259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200" b="1" i="0" u="none">
                <a:solidFill>
                  <a:srgbClr val="F43F5E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ขอขอบคุณคณะกรรมการและอาจารย์ทุกท่าน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8426" y="4927103"/>
            <a:ext cx="381514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>
                <a:solidFill>
                  <a:srgbClr val="CBD5E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เปิดรับคำถามและข้อเสนอแนะ (Questions &amp; Answers)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0094" y="6038850"/>
            <a:ext cx="545181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>
                <a:solidFill>
                  <a:srgbClr val="64748B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ชนกันต์ เขียวภักดี &amp; ทะยานชล สว่างศรี  •  ภาควิชาวิทยาการคอมพิวเตอร์ มหาวิทยาลัยเกษตรศาสตร์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2983" y="3441203"/>
            <a:ext cx="145520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38BDF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WebRTC Voice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7526" y="3707903"/>
            <a:ext cx="198612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>
                <a:solidFill>
                  <a:srgbClr val="94A3B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ระบบคุยเสียงสด P2P ระหว่างดูวิดีโอ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41" y="3441203"/>
            <a:ext cx="163826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38BDF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HLS / DASH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0907" y="3707903"/>
            <a:ext cx="188673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 u="none">
                <a:solidFill>
                  <a:srgbClr val="94A3B8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รองรับ Adaptive Bitrate อัตโนมัติ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1036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TH Sarabun New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Chanakan Keaopakdee</cp:lastModifiedBy>
  <cp:revision>2</cp:revision>
  <dcterms:created xsi:type="dcterms:W3CDTF">2013-01-27T09:14:16Z</dcterms:created>
  <dcterms:modified xsi:type="dcterms:W3CDTF">2026-10-29T06:06:42Z</dcterms:modified>
  <cp:category/>
</cp:coreProperties>
</file>