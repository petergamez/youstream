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</ns0:sldIdLst>
  <ns0:sldSz cx="12192000" cy="6858000" type="screen4x3"/>
  <ns0:notesSz cx="6858000" cy="9144000"/>
  <ns0:embeddedFontLst>
    <ns0:embeddedFont>
      <ns0:font typeface="Noto Sans Thai"/>
      <ns0:bold ns1:id="rIdFont19"/>
      <ns0:regular ns1:id="rIdFont20"/>
    </ns0:embeddedFont>
    <ns0:embeddedFont>
      <ns0:font typeface="JetBrains Mono"/>
      <ns0:bold ns1:id="rIdFont21"/>
      <ns0:regular ns1:id="rIdFont22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17" Type="http://schemas.openxmlformats.org/officeDocument/2006/relationships/slide" Target="slides/slide11.xml" /><ns0:Relationship Id="rId18" Type="http://schemas.openxmlformats.org/officeDocument/2006/relationships/slide" Target="slides/slide12.xml" /><ns0:Relationship Id="rIdFont19" Type="http://schemas.openxmlformats.org/officeDocument/2006/relationships/font" Target="fonts/a78a57d4-d424-4c90-9c60-39bc696e08ca.fntdata" /><ns0:Relationship Id="rIdFont20" Type="http://schemas.openxmlformats.org/officeDocument/2006/relationships/font" Target="fonts/80e2d2ed-c933-4490-acb4-7f6fbffd4232.fntdata" /><ns0:Relationship Id="rIdFont21" Type="http://schemas.openxmlformats.org/officeDocument/2006/relationships/font" Target="fonts/d5295cdf-52f2-420d-a144-0e40cf2ea4c6.fntdata" /><ns0:Relationship Id="rIdFont22" Type="http://schemas.openxmlformats.org/officeDocument/2006/relationships/font" Target="fonts/a9018899-1c22-4eb0-be40-8f9073d85a08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5524500"/>
            <a:ext cx="10668000" cy="723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5524500"/>
            <a:ext cx="106680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342900" cy="342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704850"/>
            <a:ext cx="11430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67862" y="681037"/>
            <a:ext cx="195738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4A3B8"/>
                </a:solidFill>
                <a:latin typeface="Noto Sans Thai"/>
              </a:rPr>
              <a:t>WEB APPLICATION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53679"/>
            <a:ext cx="9239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F43F5E"/>
                </a:solidFill>
                <a:latin typeface="Noto Sans Thai"/>
              </a:rPr>
              <a:t>REAL-TIME CO-WATCHING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434679"/>
            <a:ext cx="9701212" cy="1188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b="1" sz="3900" i="0" u="none">
                <a:solidFill>
                  <a:srgbClr val="FFFFFF"/>
                </a:solidFill>
                <a:latin typeface="Noto Sans Thai"/>
              </a:rPr>
              <a:t>ซิงค์ความบันเทิงระดับมิลลิวินาที</a:t>
            </a:r>
            <a:r>
              <a:t>
</a:t>
            </a:r>
            <a:r>
              <a:rPr b="1" sz="3900" i="0" u="none">
                <a:solidFill>
                  <a:srgbClr val="FFFFFF"/>
                </a:solidFill>
                <a:latin typeface="Noto Sans Thai"/>
              </a:rPr>
              <a:t> รับชมวิดีโอร่วมกันอย่างไร้รอยต่อ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813720"/>
            <a:ext cx="73342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Noto Sans Thai"/>
              </a:rPr>
              <a:t>สถาปัตยกรรม WebSocket ประสิทธิภาพสูง รองรับสื่อไฮบริดทั้ง YouTube และ Local Video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750" y="6029325"/>
            <a:ext cx="32385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94A3B8"/>
                </a:solidFill>
                <a:latin typeface="Noto Sans Thai"/>
              </a:rPr>
              <a:t>ภาควิชาวิทยาการคอมพิวเตอร์ มหาวิทยาลัยเกษตรศาสตร์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52462"/>
            <a:ext cx="122872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1F5F9"/>
                </a:solidFill>
                <a:latin typeface="Noto Sans Thai"/>
              </a:rPr>
              <a:t>YOUSTREAM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62625"/>
            <a:ext cx="25336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Noto Sans Thai"/>
              </a:rPr>
              <a:t>ผู้พัฒนาโครงงาน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019800"/>
            <a:ext cx="2533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2E8F0"/>
                </a:solidFill>
                <a:latin typeface="Noto Sans Thai"/>
              </a:rPr>
              <a:t>ชนกันต์ เขียวภักดี  |  ทะยานชล สว่างศรี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5943600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544067"/>
            <a:ext cx="340355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544067"/>
            <a:ext cx="340355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544067"/>
            <a:ext cx="3403550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2544067"/>
            <a:ext cx="340355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94150" y="2544067"/>
            <a:ext cx="340355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26300" y="2544067"/>
            <a:ext cx="3403550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2925067"/>
            <a:ext cx="3048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850" y="2925067"/>
            <a:ext cx="304800" cy="3048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000" y="2925067"/>
            <a:ext cx="2286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6096000"/>
            <a:ext cx="10763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64748B"/>
                </a:solidFill>
                <a:latin typeface="Noto Sans Thai"/>
              </a:rPr>
              <a:t>YouStream ถูกออกแบบมาเพื่อขจัดปัญหาคอขวดเหล่านี้ด้วยการซิงค์เฉพาะ State ข้อมูล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Noto Sans Thai"/>
              </a:rPr>
              <a:t>PROBLEM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ปัญหาและความท้าทายของการ Co-watching ในปัจจุบัน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3420367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Out-of-Sync ปัญหาคลาดเคลื่อน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" y="3820417"/>
            <a:ext cx="296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Noto Sans Thai"/>
              </a:rPr>
              <a:t>ต้องคอยนับถอยหลัง 3-2-1 เวลาหลุดซิงค์ ทำลายอรรถรสในการรับชมพร้อมกัน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0850" y="3420367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Screen Share กินทรัพยากรสูง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0850" y="3820417"/>
            <a:ext cx="296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Noto Sans Thai"/>
              </a:rPr>
              <a:t>เปลือง Bandwidth มหาศาล เครื่องฝั่ง Host หนัก เฟรมเรตตก ภาพแตก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000" y="3420367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ข้อจำกัดของแหล่งไฟล์สื่อ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000" y="3820417"/>
            <a:ext cx="2965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Noto Sans Thai"/>
              </a:rPr>
              <a:t>ระบบส่วนใหญ่ไม่รองรับไฟล์วิดีโอส่วนบุคคล (.mp4 / .webm) โดยตรง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6286500"/>
            <a:ext cx="10668000" cy="381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05500" y="2629792"/>
            <a:ext cx="5524500" cy="2247900"/>
          </a:xfrm>
          <a:prstGeom prst="roundRect">
            <a:avLst>
              <a:gd name="adj" fmla="val 8474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10767"/>
            <a:ext cx="419100" cy="419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496567"/>
            <a:ext cx="419100" cy="419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182367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" y="2925067"/>
            <a:ext cx="17145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3610867"/>
            <a:ext cx="219075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" y="4296667"/>
            <a:ext cx="19050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Noto Sans Thai"/>
              </a:rPr>
              <a:t>PROPOSED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โซลูชันและคุณค่าหลักของ YouStream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8400" y="2972692"/>
            <a:ext cx="493395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475569"/>
                </a:solidFill>
                <a:latin typeface="Noto Sans Thai"/>
              </a:rPr>
              <a:t>สถาปัตยกรรมถ่ายทอดสถานะแทนการส่งภาพสด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0" y="3306067"/>
            <a:ext cx="4933950" cy="695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F172A"/>
                </a:solidFill>
                <a:latin typeface="Noto Sans Thai"/>
              </a:rPr>
              <a:t>Zero-Relay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0" y="4077592"/>
            <a:ext cx="4933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64748B"/>
                </a:solidFill>
                <a:latin typeface="Noto Sans Thai"/>
              </a:rPr>
              <a:t>เซิร์ฟเวอร์ไม่แบกรับวิดีโอสตรีมมิ่งสด จึงประหยัดแบนด์วิดท์เซิร์ฟเวอร์มากกว่า 95% เมื่อเทียบกับ Discord Screen Sharing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2810767"/>
            <a:ext cx="408051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Sub-200ms 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3106042"/>
            <a:ext cx="38862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475569"/>
                </a:solidFill>
                <a:latin typeface="Noto Sans Thai"/>
              </a:rPr>
              <a:t>กลไกการซิงค์สถานะอัตโนมัติความเร็วสูงระหว่าง Host และ Viewers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3496567"/>
            <a:ext cx="420052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Hybrid Media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791842"/>
            <a:ext cx="40005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475569"/>
                </a:solidFill>
                <a:latin typeface="Noto Sans Thai"/>
              </a:rPr>
              <a:t>รองรับทั้ง YouTube ผ่าน URL และการอัปโหลดไฟล์วิดีโอเครื่องตนเอง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182367"/>
            <a:ext cx="43205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Host-Control 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4477642"/>
            <a:ext cx="4114800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475569"/>
                </a:solidFill>
                <a:latin typeface="Noto Sans Thai"/>
              </a:rPr>
              <a:t>ควบคุมสิทธิ์ Play / Pause / Seek เด็ดขาด ป้องกันการกดชนกันของผู้ใช้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819775"/>
            <a:ext cx="10668000" cy="504825"/>
          </a:xfrm>
          <a:prstGeom prst="roundRect">
            <a:avLst>
              <a:gd name="adj" fmla="val 22641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570261"/>
            <a:ext cx="3403550" cy="1900237"/>
          </a:xfrm>
          <a:prstGeom prst="roundRect">
            <a:avLst>
              <a:gd name="adj" fmla="val 80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677417"/>
            <a:ext cx="3403550" cy="1685925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677417"/>
            <a:ext cx="3403550" cy="1685925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Noto Sans Thai"/>
              </a:rP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สถาปัตยกรรมระบบและ Dual-Layer Data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" y="2836961"/>
            <a:ext cx="2965400" cy="136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2563EB"/>
                </a:solidFill>
                <a:latin typeface="Noto Sans Thai"/>
              </a:rPr>
              <a:t>CLIENT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850" y="2944117"/>
            <a:ext cx="2965400" cy="1152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59669"/>
                </a:solidFill>
                <a:latin typeface="Noto Sans Thai"/>
              </a:rPr>
              <a:t>APPLICATION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93000" y="2944117"/>
            <a:ext cx="2965400" cy="1152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DC2626"/>
                </a:solidFill>
                <a:latin typeface="Noto Sans Thai"/>
              </a:rPr>
              <a:t>DUAL-LAYER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5972175"/>
            <a:ext cx="15430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34155"/>
                </a:solidFill>
                <a:latin typeface="Noto Sans Thai"/>
              </a:rPr>
              <a:t>Data Flow Separation: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8475" y="5972175"/>
            <a:ext cx="44481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Thai"/>
              </a:rPr>
              <a:t>State เปลี่ยนแปลงบ่อยจัดเก็บ In-Memory 100% ปลอดภาระ I/O ฐานข้อมูลหลัก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3160811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Next.js 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3560861"/>
            <a:ext cx="2965400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Noto Sans Thai"/>
              </a:rPr>
              <a:t>App Router, React 19 พร้อม Socket.io-client และ YouTube IFrame API จัดการ Rendering ฝั่งผู้ใช้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850" y="3267967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Hono on Bun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0850" y="3668017"/>
            <a:ext cx="29654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Noto Sans Thai"/>
              </a:rPr>
              <a:t>Hono API ประสิทธิภาพสูงบน Bun Runtime เชื่อมต่อ Socket.io Event Bus ความเร็วสูง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000" y="3267967"/>
            <a:ext cx="311367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Thai"/>
              </a:rPr>
              <a:t>Redis + MariaDB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000" y="3668017"/>
            <a:ext cx="29654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Noto Sans Thai"/>
              </a:rPr>
              <a:t>Redis เก็บ Real-time State &amp; Live Chat</a:t>
            </a:r>
            <a:r>
              <a:t>
</a:t>
            </a:r>
            <a:r>
              <a:rPr b="0" sz="1125" i="0" u="none">
                <a:solidFill>
                  <a:srgbClr val="475569"/>
                </a:solidFill>
                <a:latin typeface="Noto Sans Thai"/>
              </a:rPr>
              <a:t> MariaDB ดูแลข้อมูลถาวร Users และ Media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553075"/>
            <a:ext cx="10668000" cy="771525"/>
          </a:xfrm>
          <a:prstGeom prst="roundRect">
            <a:avLst>
              <a:gd name="adj" fmla="val 1975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629792"/>
            <a:ext cx="2252662" cy="1514475"/>
          </a:xfrm>
          <a:prstGeom prst="roundRect">
            <a:avLst>
              <a:gd name="adj" fmla="val 8805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7112" y="2629792"/>
            <a:ext cx="2252662" cy="1514475"/>
          </a:xfrm>
          <a:prstGeom prst="roundRect">
            <a:avLst>
              <a:gd name="adj" fmla="val 8805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372225" y="2629792"/>
            <a:ext cx="2252662" cy="1514475"/>
          </a:xfrm>
          <a:prstGeom prst="roundRect">
            <a:avLst>
              <a:gd name="adj" fmla="val 8805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77337" y="2629792"/>
            <a:ext cx="2252662" cy="1514475"/>
          </a:xfrm>
          <a:prstGeom prst="roundRect">
            <a:avLst>
              <a:gd name="adj" fmla="val 8805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62" y="3282255"/>
            <a:ext cx="17145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275" y="3282255"/>
            <a:ext cx="17145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5387" y="3282255"/>
            <a:ext cx="171450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C2626"/>
                </a:solidFill>
                <a:latin typeface="Noto Sans Thai"/>
              </a:rPr>
              <a:t>FEATURE HIGHLIGHT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YouTube Synchronization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917" y="2858392"/>
            <a:ext cx="2434828" cy="1057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800" i="0" u="none">
                <a:solidFill>
                  <a:srgbClr val="DC2626"/>
                </a:solidFill>
                <a:latin typeface="Noto Sans Tha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6029" y="2858392"/>
            <a:ext cx="2434828" cy="1057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800" i="0" u="none">
                <a:solidFill>
                  <a:srgbClr val="DC2626"/>
                </a:solidFill>
                <a:latin typeface="Noto Sans Tha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142" y="2858392"/>
            <a:ext cx="2434828" cy="1057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800" i="0" u="none">
                <a:solidFill>
                  <a:srgbClr val="DC2626"/>
                </a:solidFill>
                <a:latin typeface="Noto Sans Tha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6254" y="2858392"/>
            <a:ext cx="2434828" cy="1057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800" i="0" u="none">
                <a:solidFill>
                  <a:srgbClr val="DC2626"/>
                </a:solidFill>
                <a:latin typeface="Noto Sans Tha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52" y="3248917"/>
            <a:ext cx="24565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Host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542" y="3534667"/>
            <a:ext cx="2339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Host แปะ URL แล้วสกัด Video ID บนไคลเอนต์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165" y="3248917"/>
            <a:ext cx="24565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Socket Emit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654" y="3534667"/>
            <a:ext cx="2339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ยิง Event video:change พร้อม Time Payload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0277" y="3248917"/>
            <a:ext cx="24565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Redis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8767" y="3534667"/>
            <a:ext cx="2339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บันทึกสถานะล่าสุดลง Cache ในระดับ Sub-ms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5390" y="3248917"/>
            <a:ext cx="24565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Broadcast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3879" y="3534667"/>
            <a:ext cx="233957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กระจายสถานะให้ผู้ชมทุกคนในห้องพร้อมกัน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5743575"/>
            <a:ext cx="30670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Noto Sans Thai"/>
              </a:rPr>
              <a:t>Zero-Bandwidth 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5943600"/>
            <a:ext cx="30670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Noto Sans Thai"/>
              </a:rPr>
              <a:t>เซิร์ฟเวอร์ส่งต่อแค่ Video ID ไม่ต้องดาวน์โหลดหรือแปลงวิดีโอ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5743575"/>
            <a:ext cx="30480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Noto Sans Thai"/>
              </a:rPr>
              <a:t>IFrame API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59436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Noto Sans Thai"/>
              </a:rPr>
              <a:t>ควบคุม Play, Pause, Seek และ Playback Rate แบบแม่นยำ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919019" y="2402234"/>
            <a:ext cx="4510980" cy="2541091"/>
          </a:xfrm>
          <a:prstGeom prst="roundRect">
            <a:avLst>
              <a:gd name="adj" fmla="val 5997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472630"/>
            <a:ext cx="5852219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2000" y="3748980"/>
            <a:ext cx="5852219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819" y="4050059"/>
            <a:ext cx="3901380" cy="58846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819" y="4050059"/>
            <a:ext cx="390138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6124575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Noto Sans Thai"/>
              </a:rPr>
              <a:t>ระบบ Range Clamping ช่วยป้องกันการร้องขอไบต์เกินขอบเขตจริงของไฟล์ ปลอดภัยและมีเสถียรภาพสูง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Noto Sans Thai"/>
              </a:rPr>
              <a:t>FEATURE HIGHLIGHT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Local File Upload &amp; HTTP 206 Partial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819" y="2707034"/>
            <a:ext cx="48767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8BDF8"/>
                </a:solidFill>
                <a:latin typeface="JetBrains Mono"/>
              </a:rPr>
              <a:t>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819" y="2992784"/>
            <a:ext cx="399663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150" i="0" u="none">
                <a:solidFill>
                  <a:srgbClr val="F8FAFC"/>
                </a:solidFill>
                <a:latin typeface="Noto Sans Thai"/>
              </a:rPr>
              <a:t>500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819" y="3659534"/>
            <a:ext cx="399663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4A3B8"/>
                </a:solidFill>
                <a:latin typeface="Noto Sans Thai"/>
              </a:rPr>
              <a:t>ขนาดไฟล์สูงสุดที่รองรับต่อคลิป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2682180"/>
            <a:ext cx="5804788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Thai"/>
              </a:rPr>
              <a:t>HTTP Range Requests (RFC 9110)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2986980"/>
            <a:ext cx="552836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Thai"/>
              </a:rPr>
              <a:t>ตอบสนองด้วยสถานะ 206 Partial Content ส่งเฉพาะ Byte Range ที่เบราว์เซอร์ร้องขอ ทำให้การ Seek และข้ามวิดีโอทำได้ทันทีโดยไม่ต้องโหลดไฟล์ทั้งหมด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550" y="3958530"/>
            <a:ext cx="5804788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Thai"/>
              </a:rPr>
              <a:t>Node/Bun Stream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263330"/>
            <a:ext cx="5528369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Thai"/>
              </a:rPr>
              <a:t>สตรีมไฟล์ผ่าน Stream Pipeline ไม่โหลดทั้งไฟล์เข้า RAM ป้องกันปัญหา Memory Spike และ Server Crash เมื่อมีผู้รับชมหลายคนพร้อมกัน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819" y="4211984"/>
            <a:ext cx="3996630" cy="426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b="0" sz="1050" i="0" u="none">
                <a:solidFill>
                  <a:srgbClr val="CBD5E1"/>
                </a:solidFill>
                <a:latin typeface="Noto Sans Thai"/>
              </a:rPr>
              <a:t>• รองรับคอนเทนเนอร์ .mp4 และ .webm</a:t>
            </a:r>
            <a:r>
              <a:t>
</a:t>
            </a:r>
            <a:r>
              <a:rPr b="0" sz="1050" i="0" u="none">
                <a:solidFill>
                  <a:srgbClr val="CBD5E1"/>
                </a:solidFill>
                <a:latin typeface="Noto Sans Thai"/>
              </a:rPr>
              <a:t> • ตรวจสอบ MIME type ป้องกันโค้ดอันตราย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819775"/>
            <a:ext cx="10668000" cy="504825"/>
          </a:xfrm>
          <a:prstGeom prst="roundRect">
            <a:avLst>
              <a:gd name="adj" fmla="val 22641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472630"/>
            <a:ext cx="3403550" cy="2095500"/>
          </a:xfrm>
          <a:prstGeom prst="roundRect">
            <a:avLst>
              <a:gd name="adj" fmla="val 727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572642"/>
            <a:ext cx="3403550" cy="1895475"/>
          </a:xfrm>
          <a:prstGeom prst="roundRect">
            <a:avLst>
              <a:gd name="adj" fmla="val 80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572642"/>
            <a:ext cx="3403550" cy="1895475"/>
          </a:xfrm>
          <a:prstGeom prst="roundRect">
            <a:avLst>
              <a:gd name="adj" fmla="val 80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5995987"/>
            <a:ext cx="1524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5" y="2786955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275" y="2886967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425" y="2886967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425" y="2891730"/>
            <a:ext cx="15240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3237" y="2991742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9200" y="2991742"/>
            <a:ext cx="17145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59669"/>
                </a:solidFill>
                <a:latin typeface="Noto Sans Thai"/>
              </a:rPr>
              <a:t>FEATURE HIGHLIGHT 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ระบบแชทสดในห้องและการป้องกันสแปม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7300" y="5972175"/>
            <a:ext cx="38195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65F46"/>
                </a:solidFill>
                <a:latin typeface="Noto Sans Thai"/>
              </a:rPr>
              <a:t>ผลลัพธ์: แชทลื่นไหล ไม่หน่วงวิดีโอ ปลอดภัยจากการ Flood ข้อความ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25" y="3320355"/>
            <a:ext cx="31736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Redis Capped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25" y="3653730"/>
            <a:ext cx="302255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จำกัดประวัติแชทไว้ที่ 100 ข้อความล่าสุดใน In-Memory ป้องกัน Memory Leak และประหยัดพื้นที่จัดเก็บ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2275" y="3420367"/>
            <a:ext cx="31736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Late-Joiner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275" y="3753742"/>
            <a:ext cx="3022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ผู้ชมที่เข้าห้องมาทีหลัง จะได้รับ 100 ข้อความก่อนหน้า และเวลาของวิดีโอปัจจุบันทันทีที่เชื่อมต่อ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4425" y="3420367"/>
            <a:ext cx="31736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Rate Limiter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4425" y="3753742"/>
            <a:ext cx="3022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ใช้อัลกอริทึม Token Bucket ผ่าน Redis ควบคุมอัตราการส่ง 1 ข้อความ / วินาที ต่อผู้ใช้งาน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6124575"/>
            <a:ext cx="10668000" cy="2000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829817"/>
            <a:ext cx="3403550" cy="1685925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829817"/>
            <a:ext cx="3403550" cy="1685925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729805"/>
            <a:ext cx="3403550" cy="1885950"/>
          </a:xfrm>
          <a:prstGeom prst="roundRect">
            <a:avLst>
              <a:gd name="adj" fmla="val 808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6124575"/>
            <a:ext cx="38100" cy="20002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3096517"/>
            <a:ext cx="30480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850" y="3096517"/>
            <a:ext cx="26670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000" y="2996505"/>
            <a:ext cx="26670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97706"/>
                </a:solidFill>
                <a:latin typeface="Noto Sans Thai"/>
              </a:rPr>
              <a:t>FEATURE HIGHLIGHT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Room Directory และ Presence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6124575"/>
            <a:ext cx="105727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34155"/>
                </a:solidFill>
                <a:latin typeface="Noto Sans Thai"/>
              </a:rPr>
              <a:t>Active Room Directory บันทึกสถานะห้องลง Redis Hash เพื่อการค้นหาและอัปเดตแบบเรียลไทม์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3515617"/>
            <a:ext cx="311367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Live Lobby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3848992"/>
            <a:ext cx="29654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แสดงรายการห้องที่กำลังเปิดใช้งาน จำนวนผู้ชมแบบเรียลไทม์ และไอคอนระบุประเภทสื่อ (YouTube / 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850" y="3515617"/>
            <a:ext cx="311367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8-Digit Code &amp; Passcode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0850" y="3848992"/>
            <a:ext cx="29654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เข้าห้องได้รวดเร็วผ่านรหัส 8 หลัก หรือ Direct URL พร้อมระบบห้องส่วนตัวที่ล็อคด้วยรหัสผ่านได้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000" y="3415605"/>
            <a:ext cx="311367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Multi-Tab Presence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000" y="3748980"/>
            <a:ext cx="296540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จัดการ Socket Connection แยกตามแท็บอย่างแม่นยำ ไม่ตัดผู้ใช้ออกจากห้องหากเปิดใช้งานหลายหน้าต่าง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743575"/>
            <a:ext cx="10668000" cy="581025"/>
          </a:xfrm>
          <a:prstGeom prst="roundRect">
            <a:avLst>
              <a:gd name="adj" fmla="val 1967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10050" y="3006030"/>
            <a:ext cx="9525" cy="9525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72425" y="3006030"/>
            <a:ext cx="9525" cy="9525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587" y="5957887"/>
            <a:ext cx="13335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088" y="5957887"/>
            <a:ext cx="1524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9064" y="5957887"/>
            <a:ext cx="171450" cy="152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F46E5"/>
                </a:solidFill>
                <a:latin typeface="Noto Sans Thai"/>
              </a:rPr>
              <a:t>PERFORMANCE &amp;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ตัวชี้วัดประสิทธิภาพและความปลอดภัย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9093" y="2891730"/>
            <a:ext cx="3929062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4F46E5"/>
                </a:solidFill>
                <a:latin typeface="JetBrains Mono"/>
              </a:rPr>
              <a:t>&lt; 200ms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093" y="3615630"/>
            <a:ext cx="392906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Sync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093" y="3882330"/>
            <a:ext cx="3929062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ความหน่วงของการซิงค์สถานะ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1468" y="2891730"/>
            <a:ext cx="3929062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059669"/>
                </a:solidFill>
                <a:latin typeface="JetBrains Mono"/>
              </a:rPr>
              <a:t>Cost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1468" y="3615630"/>
            <a:ext cx="392906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bcrypt Hashing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1468" y="3882330"/>
            <a:ext cx="3929062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มาตรฐานความปลอดภัยรหัสผ่าน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3843" y="2891730"/>
            <a:ext cx="3929062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E11D48"/>
                </a:solidFill>
                <a:latin typeface="JetBrains Mono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3843" y="3615630"/>
            <a:ext cx="392906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0F172A"/>
                </a:solidFill>
                <a:latin typeface="Noto Sans Thai"/>
              </a:rPr>
              <a:t>Redis State I/O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3843" y="3882330"/>
            <a:ext cx="3929062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975" i="0" u="none">
                <a:solidFill>
                  <a:srgbClr val="64748B"/>
                </a:solidFill>
                <a:latin typeface="Noto Sans Thai"/>
              </a:rPr>
              <a:t>ลดโหลดอ่านเขียนบน MariaDB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7187" y="5934075"/>
            <a:ext cx="13239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34155"/>
                </a:solidFill>
                <a:latin typeface="Noto Sans Thai"/>
              </a:rPr>
              <a:t>JWT Authentication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5738" y="5934075"/>
            <a:ext cx="16764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34155"/>
                </a:solidFill>
                <a:latin typeface="Noto Sans Thai"/>
              </a:rPr>
              <a:t>SQL Injection Protection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5764" y="5934075"/>
            <a:ext cx="17526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334155"/>
                </a:solidFill>
                <a:latin typeface="Noto Sans Thai"/>
              </a:rPr>
              <a:t>Path Traversal Prevention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2519362"/>
            <a:ext cx="3403550" cy="2306835"/>
          </a:xfrm>
          <a:prstGeom prst="roundRect">
            <a:avLst>
              <a:gd name="adj" fmla="val 66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94150" y="2519362"/>
            <a:ext cx="3403550" cy="2306835"/>
          </a:xfrm>
          <a:prstGeom prst="roundRect">
            <a:avLst>
              <a:gd name="adj" fmla="val 66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26300" y="2519362"/>
            <a:ext cx="3403550" cy="2306835"/>
          </a:xfrm>
          <a:prstGeom prst="roundRect">
            <a:avLst>
              <a:gd name="adj" fmla="val 66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824162"/>
            <a:ext cx="30480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750" y="2824162"/>
            <a:ext cx="304800" cy="304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900" y="2824162"/>
            <a:ext cx="266700" cy="30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85750" y="6124575"/>
            <a:ext cx="127635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Noto Sans Thai"/>
              </a:rPr>
              <a:t>พัฒนาด้วย TypeScript ทั้งระบบแบบ Full-Stack Type Safety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Noto Sans Thai"/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เครื่องมือและเทคโนโลยีที่ใช้พัฒนา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3281362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614737"/>
            <a:ext cx="3041600" cy="906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• Next.js 15+ (App Router)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React 19 &amp; TypeScript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Tailwind CSS &amp; Lucide Icons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Socket.io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2750" y="3281362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2750" y="3614737"/>
            <a:ext cx="3041600" cy="906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• Hono Web Framework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Bun Runtime Environment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Socket.io Server Engine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TypeScript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00" y="3281362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Data &amp; Infra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00" y="3614737"/>
            <a:ext cx="3041600" cy="906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050" i="0" u="none">
                <a:solidFill>
                  <a:srgbClr val="64748B"/>
                </a:solidFill>
                <a:latin typeface="Noto Sans Thai"/>
              </a:rPr>
              <a:t>• MariaDB (Persistent)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Redis In-Memory Store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Vercel (Frontend Host)</a:t>
            </a:r>
            <a:r>
              <a:t>
</a:t>
            </a:r>
            <a:r>
              <a:rPr b="0" sz="1050" i="0" u="none">
                <a:solidFill>
                  <a:srgbClr val="64748B"/>
                </a:solidFill>
                <a:latin typeface="Noto Sans Thai"/>
              </a:rPr>
              <a:t> • OVHcloud / Railway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2000" y="5819775"/>
            <a:ext cx="10668000" cy="504825"/>
          </a:xfrm>
          <a:prstGeom prst="roundRect">
            <a:avLst>
              <a:gd name="adj" fmla="val 2264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2734567"/>
            <a:ext cx="3403550" cy="1571625"/>
          </a:xfrm>
          <a:prstGeom prst="roundRect">
            <a:avLst>
              <a:gd name="adj" fmla="val 969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94150" y="2734567"/>
            <a:ext cx="3403550" cy="1571625"/>
          </a:xfrm>
          <a:prstGeom prst="roundRect">
            <a:avLst>
              <a:gd name="adj" fmla="val 9696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26300" y="2720280"/>
            <a:ext cx="3403550" cy="1600200"/>
          </a:xfrm>
          <a:prstGeom prst="roundRect">
            <a:avLst>
              <a:gd name="adj" fmla="val 9523"/>
            </a:avLst>
          </a:prstGeom>
          <a:solidFill>
            <a:srgbClr val="F1F5F9"/>
          </a:solidFill>
          <a:ln w="285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26300" y="2720280"/>
            <a:ext cx="3403550" cy="28575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10763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59669"/>
                </a:solidFill>
                <a:latin typeface="Noto Sans Thai"/>
              </a:rPr>
              <a:t>USER INTERFACE &amp;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09625"/>
            <a:ext cx="114300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Noto Sans Thai"/>
              </a:rPr>
              <a:t>หน้าจอการทำงานหลักและโฟลว์ระบบ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3001267"/>
            <a:ext cx="3041600" cy="103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64748B"/>
                </a:solidFill>
                <a:latin typeface="Noto Sans Thai"/>
              </a:rPr>
              <a:t>VIEW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2750" y="3001267"/>
            <a:ext cx="3041600" cy="1038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64748B"/>
                </a:solidFill>
                <a:latin typeface="Noto Sans Thai"/>
              </a:rPr>
              <a:t>VIEW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4900" y="2986980"/>
            <a:ext cx="30416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59669"/>
                </a:solidFill>
                <a:latin typeface="Noto Sans Thai"/>
              </a:rPr>
              <a:t>VIEW 03 —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5972175"/>
            <a:ext cx="28956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FFFF"/>
                </a:solidFill>
                <a:latin typeface="Noto Sans Thai"/>
              </a:rPr>
              <a:t>พร้อมสำหรับการสาธิตสด (Live Demonstration)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991225"/>
            <a:ext cx="28575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38BDF8"/>
                </a:solidFill>
                <a:latin typeface="JetBrains Mono"/>
              </a:rPr>
              <a:t>localhost:3000 / youstream.app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3306067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Auth &amp; Profile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639442"/>
            <a:ext cx="3041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หน้า Login / Register แบบ Responsive พร้อมระบบดึง Gravatar Profile อัตโนมัติตามอีเมล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2750" y="3306067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Lobby Directory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750" y="3639442"/>
            <a:ext cx="3041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หน้ารวมห้องสตรีมสด แสดงจำนวนผู้ชม สถานะห้อง และปุ่มสร้างห้องแบบ Instant 8-Digit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4900" y="3320355"/>
            <a:ext cx="31936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Thai"/>
              </a:rPr>
              <a:t>Room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00" y="3653730"/>
            <a:ext cx="30416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050" i="0" u="none">
                <a:solidFill>
                  <a:srgbClr val="475569"/>
                </a:solidFill>
                <a:latin typeface="Noto Sans Thai"/>
              </a:rPr>
              <a:t>หน้าจอเล่นวิดีโอหลัก + แผงควบคุมสิทธิ์ Host + ช่องแชทสด Capped List ด้านข้าง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667000" y="3689002"/>
            <a:ext cx="6858000" cy="1190625"/>
          </a:xfrm>
          <a:prstGeom prst="roundRect">
            <a:avLst>
              <a:gd name="adj" fmla="val 128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350" y="1444972"/>
            <a:ext cx="495300" cy="495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125" y="1578322"/>
            <a:ext cx="285750" cy="228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01813" y="2168872"/>
            <a:ext cx="6988373" cy="54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b="1" sz="3600" i="0" u="none">
                <a:solidFill>
                  <a:srgbClr val="FFFFFF"/>
                </a:solidFill>
                <a:latin typeface="Noto Sans Thai"/>
              </a:rPr>
              <a:t>บทสรุปและถาม-ตอบ (Q&amp;A)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7875" y="2831752"/>
            <a:ext cx="80962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94A3B8"/>
                </a:solidFill>
                <a:latin typeface="Noto Sans Thai"/>
              </a:rPr>
              <a:t>YouStream — แพลตฟอร์มซิงค์ความบันเทิงระดับเรียลไทม์ที่ตอบโจทย์ทั้งความเร็ว ความเสถียร และความคุ้มค่าด้านทรัพยากร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99359" y="5184427"/>
            <a:ext cx="33932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CBD5E1"/>
                </a:solidFill>
                <a:latin typeface="Noto Sans Thai"/>
              </a:rPr>
              <a:t>ขอขอบคุณอาจารย์และคณะกรรมการทุกท่าน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3917602"/>
            <a:ext cx="61912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38BDF8"/>
                </a:solidFill>
                <a:latin typeface="Noto Sans Thai"/>
              </a:rPr>
              <a:t>FUTURE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4193827"/>
            <a:ext cx="61912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125" i="0" u="none">
                <a:solidFill>
                  <a:srgbClr val="E2E8F0"/>
                </a:solidFill>
                <a:latin typeface="Noto Sans Thai"/>
              </a:rPr>
              <a:t>• บูรณาการระบบสนทนาเสียงสด (WebRTC Voice Chat Rooms)</a:t>
            </a:r>
            <a:r>
              <a:t>
</a:t>
            </a:r>
            <a:r>
              <a:rPr b="0" sz="1125" i="0" u="none">
                <a:solidFill>
                  <a:srgbClr val="E2E8F0"/>
                </a:solidFill>
                <a:latin typeface="Noto Sans Thai"/>
              </a:rPr>
              <a:t> • รองรับ Adaptive Bitrate Streaming ด้วยโปรโตคอล HLS / MPEG-DASH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